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1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embedTrueTypeFonts="1" saveSubsetFonts="1" strictFirstAndLastChars="0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type="screen4x3" cy="6858000" cx="9144000"/>
  <p:notesSz cx="6858000" cy="9144000"/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23888" autoAdjust="0"/>
    <p:restoredTop sz="94660"/>
  </p:normalViewPr>
  <p:slideViewPr>
    <p:cSldViewPr showGuides="1" snapToGrid="0">
      <p:cViewPr>
        <p:scale>
          <a:sx n="75" d="100"/>
          <a:sy n="75" d="100"/>
        </p:scale>
        <p:origin x="150" y="17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tableStyles" Target="tableStyle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85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4871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r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48715" name="Google Shape;5;n"/>
          <p:cNvSpPr>
            <a:spLocks noChangeAspect="1" noRot="1" noGrp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71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228600" lvl="0" marL="4572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algn="l" indent="-228600" lvl="1" marL="9144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algn="l" indent="-228600" lvl="2" marL="13716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algn="l" indent="-228600" lvl="3" marL="18288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algn="l" indent="-228600" lvl="4" marL="22860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algn="l" indent="-228600" lvl="5" marL="27432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algn="l" indent="-228600" lvl="6" marL="32004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algn="l" indent="-228600" lvl="7" marL="36576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algn="l" indent="-228600" lvl="8" marL="411480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4871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4871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p>
            <a:pPr algn="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cap="none" sz="1200" i="0" lang="en-GB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b="0" cap="none" sz="1200" i="0" strike="noStrike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notes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b="0" cap="none" sz="1400" i="0" strike="noStrike" u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590" name="Google Shape;86;p1:notes"/>
          <p:cNvSpPr>
            <a:spLocks noChangeAspect="1" noRot="1"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0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599" name="Google Shape;98;p2:notes"/>
          <p:cNvSpPr>
            <a:spLocks noChangeAspect="1" noRot="1"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3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Google Shape;103;g10c13118faf_0_2:notes"/>
          <p:cNvSpPr>
            <a:spLocks noChangeAspect="1" noRot="1"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604" name="Google Shape;104;g10c13118fa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05" name="Google Shape;105;g10c13118faf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/>
        </p:spPr>
        <p:txBody>
          <a:bodyPr anchor="b" anchorCtr="0" bIns="45700" lIns="91425" rIns="91425" spcFirstLastPara="1" tIns="45700" wrap="square">
            <a:noAutofit/>
          </a:bodyPr>
          <a:p>
            <a:pPr algn="r" indent="0" lvl="0" mar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GB"/>
              <a:t>3</a:t>
            </a:fld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6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14" name="Google Shape;111;p3:notes"/>
          <p:cNvSpPr>
            <a:spLocks noChangeAspect="1" noRot="1"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2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IN"/>
          </a:p>
        </p:txBody>
      </p:sp>
      <p:sp>
        <p:nvSpPr>
          <p:cNvPr id="1048621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algn="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cap="none" sz="1200" i="0" lang="en-GB" strike="noStrike" u="none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6</a:t>
            </a:fld>
            <a:endParaRPr b="0" cap="none" sz="1200" i="0" lang="en-GB" strike="noStrike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3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25" name="Google Shape;117;p4:notes"/>
          <p:cNvSpPr>
            <a:spLocks noChangeAspect="1" noRot="1"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6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29" name="Google Shape;123;p5:notes"/>
          <p:cNvSpPr>
            <a:spLocks noChangeAspect="1" noRot="1"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9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33" name="Google Shape;123;p5:notes"/>
          <p:cNvSpPr>
            <a:spLocks noChangeAspect="1" noRot="1"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4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IN"/>
          </a:p>
        </p:txBody>
      </p:sp>
      <p:sp>
        <p:nvSpPr>
          <p:cNvPr id="1048645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algn="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cap="none" sz="1200" i="0" lang="en-GB" strike="noStrike" u="none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13</a:t>
            </a:fld>
            <a:endParaRPr b="0" cap="none" sz="1200" i="0" lang="en-GB" strike="noStrike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2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Google Shape;15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59" name="Google Shape;155;p10:notes"/>
          <p:cNvSpPr>
            <a:spLocks noChangeAspect="1" noRot="1"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5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Google Shape;16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62" name="Google Shape;161;p11:notes"/>
          <p:cNvSpPr>
            <a:spLocks noChangeAspect="1" noRot="1"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24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6;p2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2" name="Google Shape;17;p2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3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6457950" y="6356357"/>
            <a:ext cx="20574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37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Google Shape;20;p3"/>
          <p:cNvSpPr txBox="1"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592" name="Google Shape;21;p3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593" name="Google Shape;22;p3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94" name="Google Shape;23;p3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95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6457950" y="6356357"/>
            <a:ext cx="20574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80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Google Shape;26;p4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ctr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88" name="Google Shape;27;p4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ctr" lv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algn="ctr" lv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 lvl="2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 lvl="3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 lvl="4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 lvl="5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 lvl="6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 lvl="7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 lvl="8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89" name="Google Shape;28;p4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0" name="Google Shape;29;p4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1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6457950" y="6356357"/>
            <a:ext cx="20574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8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Google Shape;32;p5"/>
          <p:cNvSpPr txBox="1">
            <a:spLocks noGrp="1"/>
          </p:cNvSpPr>
          <p:nvPr>
            <p:ph type="title"/>
          </p:nvPr>
        </p:nvSpPr>
        <p:spPr>
          <a:xfrm>
            <a:off x="623888" y="1709745"/>
            <a:ext cx="7886700" cy="2852737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93" name="Google Shape;33;p5"/>
          <p:cNvSpPr txBox="1">
            <a:spLocks noGrp="1"/>
          </p:cNvSpPr>
          <p:nvPr>
            <p:ph type="body" idx="1"/>
          </p:nvPr>
        </p:nvSpPr>
        <p:spPr>
          <a:xfrm>
            <a:off x="623888" y="4589470"/>
            <a:ext cx="7886700" cy="1500187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2286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algn="l" indent="-2286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algn="l" indent="-2286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algn="l" indent="-2286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algn="l" indent="-2286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algn="l" indent="-2286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algn="l" indent="-2286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algn="l" indent="-2286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algn="l" indent="-2286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4" name="Google Shape;34;p5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5" name="Google Shape;35;p5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9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6457950" y="6356357"/>
            <a:ext cx="20574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82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Google Shape;38;p6"/>
          <p:cNvSpPr txBox="1"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98" name="Google Shape;39;p6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9" name="Google Shape;40;p6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0" name="Google Shape;41;p6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01" name="Google Shape;42;p6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02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6457950" y="6356357"/>
            <a:ext cx="20574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76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Google Shape;45;p7"/>
          <p:cNvSpPr txBox="1"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4" name="Google Shape;46;p7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indent="-2286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algn="l" indent="-2286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algn="l" indent="-2286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algn="l" indent="-2286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algn="l" indent="-2286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algn="l" indent="-2286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algn="l" indent="-2286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algn="l" indent="-2286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algn="l" indent="-2286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5" name="Google Shape;47;p7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6" name="Google Shape;48;p7"/>
          <p:cNvSpPr txBox="1">
            <a:spLocks noGrp="1"/>
          </p:cNvSpPr>
          <p:nvPr>
            <p:ph type="body" idx="3"/>
          </p:nvPr>
        </p:nvSpPr>
        <p:spPr>
          <a:xfrm>
            <a:off x="4629152" y="1681163"/>
            <a:ext cx="3887391" cy="823912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indent="-2286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algn="l" indent="-2286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algn="l" indent="-2286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algn="l" indent="-2286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algn="l" indent="-2286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algn="l" indent="-2286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algn="l" indent="-2286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algn="l" indent="-2286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algn="l" indent="-2286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7" name="Google Shape;49;p7"/>
          <p:cNvSpPr txBox="1">
            <a:spLocks noGrp="1"/>
          </p:cNvSpPr>
          <p:nvPr>
            <p:ph type="body" idx="4"/>
          </p:nvPr>
        </p:nvSpPr>
        <p:spPr>
          <a:xfrm>
            <a:off x="4629152" y="2505075"/>
            <a:ext cx="3887391" cy="36845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8" name="Google Shape;50;p7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69" name="Google Shape;51;p7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70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6457950" y="6356357"/>
            <a:ext cx="20574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8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Google Shape;54;p8"/>
          <p:cNvSpPr txBox="1"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04" name="Google Shape;55;p8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05" name="Google Shape;56;p8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06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457950" y="6356357"/>
            <a:ext cx="20574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84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Google Shape;59;p9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08" name="Google Shape;60;p9"/>
          <p:cNvSpPr txBox="1">
            <a:spLocks noGrp="1"/>
          </p:cNvSpPr>
          <p:nvPr>
            <p:ph type="body" idx="1"/>
          </p:nvPr>
        </p:nvSpPr>
        <p:spPr>
          <a:xfrm>
            <a:off x="3887391" y="987432"/>
            <a:ext cx="4629150" cy="4873625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4318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algn="l" indent="-4064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algn="l" indent="-3810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algn="l" indent="-3556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algn="l" indent="-3556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algn="l" indent="-3556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algn="l" indent="-3556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algn="l" indent="-3556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algn="l" indent="-3556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9" name="Google Shape;61;p9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2286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algn="l" indent="-2286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algn="l" indent="-2286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algn="l" indent="-2286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algn="l" indent="-2286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algn="l" indent="-2286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algn="l" indent="-2286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algn="l" indent="-2286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algn="l" indent="-2286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0" name="Google Shape;62;p9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11" name="Google Shape;63;p9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712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457950" y="6356357"/>
            <a:ext cx="20574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78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Google Shape;66;p10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77" name="Google Shape;67;p10"/>
          <p:cNvSpPr>
            <a:spLocks noGrp="1"/>
          </p:cNvSpPr>
          <p:nvPr>
            <p:ph type="pic" idx="2"/>
          </p:nvPr>
        </p:nvSpPr>
        <p:spPr>
          <a:xfrm>
            <a:off x="3887391" y="987432"/>
            <a:ext cx="4629150" cy="4873625"/>
          </a:xfrm>
          <a:prstGeom prst="rect"/>
          <a:noFill/>
          <a:ln>
            <a:noFill/>
          </a:ln>
        </p:spPr>
      </p:sp>
      <p:sp>
        <p:nvSpPr>
          <p:cNvPr id="1048678" name="Google Shape;68;p10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2286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algn="l" indent="-2286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algn="l" indent="-2286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algn="l" indent="-2286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algn="l" indent="-2286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algn="l" indent="-2286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algn="l" indent="-2286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algn="l" indent="-2286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algn="l" indent="-2286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9" name="Google Shape;69;p10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8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8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457950" y="6356357"/>
            <a:ext cx="20574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79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Google Shape;73;p11"/>
          <p:cNvSpPr txBox="1"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83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4" name="Google Shape;75;p11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85" name="Google Shape;76;p11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86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457950" y="6356357"/>
            <a:ext cx="20574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77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623594" y="2285206"/>
            <a:ext cx="5811838" cy="197167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72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623095" y="370681"/>
            <a:ext cx="5811838" cy="5800725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algn="l" indent="-3429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algn="l" indent="-3429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algn="l" indent="-3429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3" name="Google Shape;81;p12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74" name="Google Shape;82;p12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75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457950" y="6356357"/>
            <a:ext cx="20574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1"/>
          <p:cNvSpPr txBox="1"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b="0" cap="none" sz="44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48577" name="Google Shape;11;p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406400" lvl="0" marL="457200" marR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b="0" cap="none" sz="2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algn="l" indent="-381000" lvl="1" marL="914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b="0" cap="none" sz="24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algn="l" indent="-355600" lvl="2" marL="1371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b="0" cap="none" sz="20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algn="l" indent="-342900" lvl="3" marL="1828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algn="l" indent="-342900" lvl="4" marL="22860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algn="l" indent="-342900" lvl="5" marL="27432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algn="l" indent="-342900" lvl="6" marL="32004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algn="l" indent="-342900" lvl="7" marL="36576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algn="l" indent="-342900" lvl="8" marL="4114800" marR="0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48578" name="Google Shape;12;p1"/>
          <p:cNvSpPr txBox="1">
            <a:spLocks noGrp="1"/>
          </p:cNvSpPr>
          <p:nvPr>
            <p:ph type="dt" idx="10"/>
          </p:nvPr>
        </p:nvSpPr>
        <p:spPr>
          <a:xfrm>
            <a:off x="628650" y="6356357"/>
            <a:ext cx="20574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48579" name="Google Shape;13;p1"/>
          <p:cNvSpPr txBox="1">
            <a:spLocks noGrp="1"/>
          </p:cNvSpPr>
          <p:nvPr>
            <p:ph type="ftr" idx="11"/>
          </p:nvPr>
        </p:nvSpPr>
        <p:spPr>
          <a:xfrm>
            <a:off x="3028950" y="6356357"/>
            <a:ext cx="30861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48580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457950" y="6356357"/>
            <a:ext cx="20574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algn="r" indent="0" lvl="1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algn="r" indent="0" lvl="2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algn="r" indent="0" lvl="3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algn="r" indent="0" lvl="4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algn="r" indent="0" lvl="5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algn="r" indent="0" lvl="6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algn="r" indent="0" lvl="7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algn="r" indent="0" lvl="8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eaLnBrk="1" hangingPunct="1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algn="l" eaLnBrk="1" hangingPunct="1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algn="l" eaLnBrk="1" hangingPunct="1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algn="l" eaLnBrk="1" hangingPunct="1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algn="l" eaLnBrk="1" hangingPunct="1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algn="l" eaLnBrk="1" hangingPunct="1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algn="l" eaLnBrk="1" hangingPunct="1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algn="l" eaLnBrk="1" hangingPunct="1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algn="l" eaLnBrk="1" hangingPunct="1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eaLnBrk="1" hangingPunct="1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algn="l" eaLnBrk="1" hangingPunct="1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algn="l" eaLnBrk="1" hangingPunct="1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algn="l" eaLnBrk="1" hangingPunct="1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algn="l" eaLnBrk="1" hangingPunct="1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algn="l" eaLnBrk="1" hangingPunct="1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algn="l" eaLnBrk="1" hangingPunct="1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algn="l" eaLnBrk="1" hangingPunct="1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algn="l" eaLnBrk="1" hangingPunct="1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eaLnBrk="1" hangingPunct="1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algn="l" eaLnBrk="1" hangingPunct="1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algn="l" eaLnBrk="1" hangingPunct="1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algn="l" eaLnBrk="1" hangingPunct="1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algn="l" eaLnBrk="1" hangingPunct="1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algn="l" eaLnBrk="1" hangingPunct="1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algn="l" eaLnBrk="1" hangingPunct="1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algn="l" eaLnBrk="1" hangingPunct="1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algn="l" eaLnBrk="1" hangingPunct="1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b="0" cap="none" sz="1400" i="0" strike="noStrike" u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hyperlink" Target="http://www.slideshare.net/Rajnishkumar468/fabrication-of-drone.%20Accessed%2031%20May%202024" TargetMode="External"/><Relationship Id="rId2" Type="http://schemas.openxmlformats.org/officeDocument/2006/relationships/hyperlink" Target="https://doi.org/10.3390/drones5030087" TargetMode="External"/><Relationship Id="rId3" Type="http://schemas.openxmlformats.org/officeDocument/2006/relationships/hyperlink" Target="https://doi.org/10.3390/drones3040082" TargetMode="External"/><Relationship Id="rId4" Type="http://schemas.openxmlformats.org/officeDocument/2006/relationships/hyperlink" Target="https://doi.org/10.1016/j.ijcce.2021.11.005" TargetMode="External"/><Relationship Id="rId5" Type="http://schemas.openxmlformats.org/officeDocument/2006/relationships/hyperlink" Target="https://doi.org/10.1007/s11554-021-01171-2" TargetMode="External"/><Relationship Id="rId6" Type="http://schemas.openxmlformats.org/officeDocument/2006/relationships/hyperlink" Target="https://ieeexplore.ieee.org/abstract/document/10459026" TargetMode="External"/><Relationship Id="rId7" Type="http://schemas.openxmlformats.org/officeDocument/2006/relationships/hyperlink" Target="https://ieeexplore.ieee.org/abstract/document/9006834" TargetMode="External"/><Relationship Id="rId8" Type="http://schemas.openxmlformats.org/officeDocument/2006/relationships/hyperlink" Target="https://doi.org/10.1007/s11831-021-09681-9" TargetMode="Externa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Google Shape;91;p13"/>
          <p:cNvSpPr txBox="1"/>
          <p:nvPr/>
        </p:nvSpPr>
        <p:spPr>
          <a:xfrm>
            <a:off x="685800" y="2423928"/>
            <a:ext cx="7772400" cy="5532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ctr"/>
            <a:r>
              <a:rPr b="1" sz="1600" lang="en-US"/>
              <a:t>Real-Time Human Violence Detection Using ResNet3D-18 with Confidence-Gated Temporal Voting Mechanism</a:t>
            </a:r>
            <a:endParaRPr b="1" sz="1600" lang="en-IN"/>
          </a:p>
        </p:txBody>
      </p:sp>
      <p:sp>
        <p:nvSpPr>
          <p:cNvPr id="1048585" name="Google Shape;92;p13"/>
          <p:cNvSpPr/>
          <p:nvPr/>
        </p:nvSpPr>
        <p:spPr>
          <a:xfrm>
            <a:off x="265722" y="3628791"/>
            <a:ext cx="7072923" cy="2403025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just" indent="0" lvl="0" marL="0" marR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600" lang="en-GB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Presented by: </a:t>
            </a:r>
            <a:endParaRPr b="1" sz="16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 indent="0" lvl="0" marL="0" marR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lang="en-GB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TEJAS R U                         (23BTRCL165)</a:t>
            </a:r>
          </a:p>
          <a:p>
            <a:pPr algn="just" indent="0" lvl="0" marL="0" marR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lang="en-GB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SUJEET R K                       (23BTRCL081)</a:t>
            </a:r>
          </a:p>
          <a:p>
            <a:pPr algn="just" indent="0" lvl="0" marL="0" marR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lang="en-GB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TANISHA V                       (23BTRCL086)</a:t>
            </a:r>
          </a:p>
          <a:p>
            <a:pPr algn="just" indent="0" lvl="0" marL="0" marR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lang="en-GB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THANISH K C                   (23BTRCL089)</a:t>
            </a:r>
          </a:p>
          <a:p>
            <a:pPr algn="just" indent="0" lvl="0" marL="0" marR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lang="en-GB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S UDAY GOWDA             (23BTRSN065)</a:t>
            </a:r>
          </a:p>
          <a:p>
            <a:pPr algn="just" indent="0" lvl="0" marL="0" marR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altLang="en-GB" b="0" cap="none" sz="1600" i="0" lang="en-IN" strike="noStrike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 indent="0" lvl="0" marL="0" marR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altLang="en-GB" b="0" cap="none" sz="1600" i="0" lang="en-IN" strike="noStrike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Computer Science Of Engineering Artificial Intelligence And Machine Learning</a:t>
            </a:r>
          </a:p>
        </p:txBody>
      </p:sp>
      <p:sp>
        <p:nvSpPr>
          <p:cNvPr id="1048586" name="Google Shape;93;p13"/>
          <p:cNvSpPr txBox="1"/>
          <p:nvPr/>
        </p:nvSpPr>
        <p:spPr>
          <a:xfrm>
            <a:off x="4306279" y="3671920"/>
            <a:ext cx="4689232" cy="12606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just" indent="0" lvl="0" marL="0" marR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b="1" sz="1800" i="1" lang="en-US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Under the Guidance of:</a:t>
            </a:r>
          </a:p>
          <a:p>
            <a:pPr algn="just" indent="0" lvl="0" marL="0" marR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altLang="en-GB" b="0" cap="none" sz="1800" i="0" lang="en-US" strike="noStrike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Dr. Senthil </a:t>
            </a:r>
            <a:r>
              <a:rPr altLang="en-GB" b="0" cap="none" sz="1800" i="0" lang="en-US" err="1" strike="noStrike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kumar</a:t>
            </a:r>
            <a:endParaRPr altLang="en-GB" b="0" cap="none" sz="1800" i="0" lang="en-US" strike="noStrike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 indent="0" lvl="0" marL="0" marR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altLang="en-GB" b="0" cap="none" sz="1800" i="0" lang="en-US" strike="noStrike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Associate Professor , CSE - AIML, </a:t>
            </a:r>
          </a:p>
          <a:p>
            <a:pPr indent="0" lvl="0" marL="0" marR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altLang="en-GB" cap="none" sz="1800" i="0" lang="en-US" strike="noStrike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FET, JAIN(Deemed–to-be) UNIVERSITY</a:t>
            </a:r>
          </a:p>
        </p:txBody>
      </p:sp>
      <p:sp>
        <p:nvSpPr>
          <p:cNvPr id="1048587" name="Google Shape;94;p13"/>
          <p:cNvSpPr txBox="1"/>
          <p:nvPr/>
        </p:nvSpPr>
        <p:spPr>
          <a:xfrm>
            <a:off x="1781987" y="1624358"/>
            <a:ext cx="6349138" cy="461624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r>
              <a:rPr b="1" sz="2400" lang="en-US"/>
              <a:t>PROJECT-CENTRIC LEARNING (PCL)</a:t>
            </a:r>
            <a:endParaRPr sz="2400" lang="en-US"/>
          </a:p>
        </p:txBody>
      </p:sp>
      <p:sp>
        <p:nvSpPr>
          <p:cNvPr id="1048588" name="Google Shape;95;p13"/>
          <p:cNvSpPr txBox="1"/>
          <p:nvPr/>
        </p:nvSpPr>
        <p:spPr>
          <a:xfrm>
            <a:off x="797249" y="3094250"/>
            <a:ext cx="7772400" cy="5532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 panose="02020603050405020304"/>
              <a:buNone/>
            </a:pPr>
            <a:r>
              <a:rPr b="0" cap="none" sz="3200" i="0" lang="en-GB" strike="noStrike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Review Pr</a:t>
            </a:r>
            <a:r>
              <a:rPr sz="3200" lang="en-GB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esentation - </a:t>
            </a:r>
            <a:r>
              <a:rPr sz="3200" lang="en-US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</a:t>
            </a:r>
            <a:endParaRPr altLang="en-US" lang="zh-CN"/>
          </a:p>
        </p:txBody>
      </p:sp>
      <p:pic>
        <p:nvPicPr>
          <p:cNvPr id="2097152" name="image1.png" descr="C:\Users\Staff\Desktop\Dr. Ahmadi Begum\SET-JU-Logo-for-NBA-and-ISO-Process.png"/>
          <p:cNvPicPr>
            <a:picLocks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3190732" y="396337"/>
            <a:ext cx="3531649" cy="890075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Google Shape;100;p14"/>
          <p:cNvSpPr txBox="1"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Contents</a:t>
            </a: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597" name="Google Shape;101;p1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 fontScale="64286" lnSpcReduction="20000"/>
          </a:bodyPr>
          <a:p>
            <a:pPr algn="just" indent="-161925" lvl="0" marL="228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Abstract </a:t>
            </a:r>
          </a:p>
          <a:p>
            <a:pPr algn="just" indent="-161925" lvl="0" marL="228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</a:p>
          <a:p>
            <a:pPr algn="just" indent="-161925" lvl="0" marL="228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Problem Statement</a:t>
            </a:r>
          </a:p>
          <a:p>
            <a:pPr algn="just" indent="-161925" lvl="0" marL="228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Research gap</a:t>
            </a:r>
          </a:p>
          <a:p>
            <a:pPr algn="just" indent="-161925" lvl="0" marL="228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Aim and Objectives</a:t>
            </a:r>
          </a:p>
          <a:p>
            <a:pPr algn="just" indent="-161925" marL="228600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</a:t>
            </a:r>
          </a:p>
          <a:p>
            <a:pPr algn="just" indent="-161925" marL="228600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en-IN"/>
              <a:t>Comparative Analysis</a:t>
            </a:r>
            <a:endParaRPr lang="en-GB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just" indent="-161925" lvl="0" marL="228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Methodology</a:t>
            </a:r>
          </a:p>
          <a:p>
            <a:pPr algn="just" indent="-161925" lvl="0" marL="228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Results &amp; Advantages</a:t>
            </a:r>
          </a:p>
          <a:p>
            <a:pPr algn="just" indent="-161925" lvl="0" marL="228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Conclusion</a:t>
            </a:r>
          </a:p>
          <a:p>
            <a:pPr algn="just" indent="-161925" lvl="0" marL="228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Future scope</a:t>
            </a:r>
          </a:p>
          <a:p>
            <a:pPr algn="just" indent="-161925" lvl="0" marL="228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References</a:t>
            </a: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 indent="-50800" lvl="0" marL="2286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Google Shape;107;p15"/>
          <p:cNvSpPr txBox="1">
            <a:spLocks noGrp="1"/>
          </p:cNvSpPr>
          <p:nvPr>
            <p:ph type="title"/>
          </p:nvPr>
        </p:nvSpPr>
        <p:spPr>
          <a:xfrm>
            <a:off x="2459481" y="0"/>
            <a:ext cx="3753750" cy="836246"/>
          </a:xfrm>
          <a:prstGeom prst="rect"/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Abstract</a:t>
            </a:r>
          </a:p>
        </p:txBody>
      </p:sp>
      <p:sp>
        <p:nvSpPr>
          <p:cNvPr id="1048601" name="Google Shape;108;p15"/>
          <p:cNvSpPr txBox="1">
            <a:spLocks noGrp="1"/>
          </p:cNvSpPr>
          <p:nvPr>
            <p:ph type="body" idx="1"/>
          </p:nvPr>
        </p:nvSpPr>
        <p:spPr>
          <a:xfrm>
            <a:off x="1008663" y="5271561"/>
            <a:ext cx="8326167" cy="3636685"/>
          </a:xfrm>
          <a:prstGeom prst="rect"/>
        </p:spPr>
        <p:txBody>
          <a:bodyPr anchor="t" anchorCtr="0" bIns="45700" lIns="91425" rIns="91425" spcFirstLastPara="1" tIns="45700" wrap="square">
            <a:normAutofit/>
          </a:bodyPr>
          <a:p>
            <a:pPr algn="l" indent="0" lvl="0" marL="0" rtl="0">
              <a:spcBef>
                <a:spcPts val="1000"/>
              </a:spcBef>
              <a:spcAft>
                <a:spcPts val="0"/>
              </a:spcAft>
              <a:buNone/>
            </a:pPr>
            <a:r>
              <a:rPr sz="2000"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48602" name="Rectangle 2"/>
          <p:cNvSpPr>
            <a:spLocks noChangeArrowheads="1"/>
          </p:cNvSpPr>
          <p:nvPr/>
        </p:nvSpPr>
        <p:spPr bwMode="auto">
          <a:xfrm>
            <a:off x="90488" y="974119"/>
            <a:ext cx="8963024" cy="3691891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spAutoFit/>
          </a:bodyPr>
          <a:p>
            <a:pPr algn="just" eaLnBrk="0" fontAlgn="base" hangingPunct="0" lv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sz="1800"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 eaLnBrk="0" fontAlgn="base" hangingPunct="0" indent="-285750" lvl="0" marL="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increasing use of surveillance systems demands automated real-time violence detection. Manual monitoring of video feeds is inefficient and prone to human error.</a:t>
            </a:r>
          </a:p>
          <a:p>
            <a:pPr algn="just" eaLnBrk="0" fontAlgn="base" hangingPunct="0" indent="-285750" lvl="0" marL="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proposes a deep learning framework based on </a:t>
            </a:r>
            <a:r>
              <a:rPr b="1"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ResNet3D-18</a:t>
            </a:r>
            <a: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</a:t>
            </a:r>
            <a:r>
              <a:rPr sz="1800" lang="en-US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spatio</a:t>
            </a:r>
            <a: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--temporal video analysis using 16-frame clips for accurate violence recognition</a:t>
            </a:r>
          </a:p>
          <a:p>
            <a:pPr algn="just" eaLnBrk="0" fontAlgn="base" hangingPunct="0" indent="-285750" lvl="0" marL="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b="1"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Confidence-Gated Temporal Voting Mechanism</a:t>
            </a:r>
            <a: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triggers a VIOLENT alert only when prediction confidence exceeds 85% across 5 consecutive frames </a:t>
            </a:r>
          </a:p>
          <a:p>
            <a:pPr algn="just" eaLnBrk="0" fontAlgn="base" hangingPunct="0" indent="-285750" lvl="0" marL="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proposed system achieves </a:t>
            </a:r>
            <a:r>
              <a:rPr b="1"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97.95% accuracy</a:t>
            </a:r>
            <a: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is implemented with a prototype web-based interface supporting CPU and GPU inference</a:t>
            </a:r>
            <a:endParaRPr altLang="en-US" baseline="0" b="0" cap="none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97153" name="Picture 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506278" y="4803881"/>
            <a:ext cx="2912779" cy="2054119"/>
          </a:xfrm>
          <a:prstGeom prst="rect"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Google Shape;113;p16"/>
          <p:cNvSpPr txBox="1">
            <a:spLocks noGrp="1"/>
          </p:cNvSpPr>
          <p:nvPr>
            <p:ph type="title"/>
          </p:nvPr>
        </p:nvSpPr>
        <p:spPr>
          <a:xfrm>
            <a:off x="1436115" y="26480"/>
            <a:ext cx="4830885" cy="819896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07" name="Google Shape;114;p16"/>
          <p:cNvSpPr txBox="1">
            <a:spLocks noGrp="1"/>
          </p:cNvSpPr>
          <p:nvPr>
            <p:ph type="body" idx="1"/>
          </p:nvPr>
        </p:nvSpPr>
        <p:spPr>
          <a:xfrm>
            <a:off x="248786" y="507311"/>
            <a:ext cx="9824128" cy="557011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p>
            <a:pPr algn="just" indent="-285750" marL="463550">
              <a:lnSpc>
                <a:spcPct val="100000"/>
              </a:lnSpc>
              <a:buSzPts val="2800"/>
            </a:pPr>
            <a:endParaRPr altLang="en-US" sz="1800" lang="en-US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 indent="-285750" marL="463550">
              <a:lnSpc>
                <a:spcPct val="100000"/>
              </a:lnSpc>
              <a:buSzPts val="2800"/>
            </a:pPr>
            <a:endParaRPr sz="18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indent="-50800" lvl="0" marL="2286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</a:p>
          <a:p>
            <a:pPr algn="l" indent="-50800" lvl="0" marL="2286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IN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 indent="-50800" lvl="0" marL="2286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IN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algn="l" indent="-50800" lvl="0" marL="22860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IN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097154" name="object 4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700931" y="5047442"/>
            <a:ext cx="5395634" cy="1796778"/>
          </a:xfrm>
          <a:prstGeom prst="rect"/>
        </p:spPr>
      </p:pic>
      <p:sp>
        <p:nvSpPr>
          <p:cNvPr id="1048608" name="Rectangle 1"/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048609" name="Rectangle 2"/>
          <p:cNvSpPr>
            <a:spLocks noChangeArrowheads="1"/>
          </p:cNvSpPr>
          <p:nvPr/>
        </p:nvSpPr>
        <p:spPr bwMode="auto">
          <a:xfrm>
            <a:off x="-1" y="1337588"/>
            <a:ext cx="4132385" cy="358141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altLang="en-US" baseline="0" b="0" cap="none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48610" name="Rectangle 2"/>
          <p:cNvSpPr>
            <a:spLocks noChangeArrowheads="1"/>
          </p:cNvSpPr>
          <p:nvPr/>
        </p:nvSpPr>
        <p:spPr bwMode="auto">
          <a:xfrm>
            <a:off x="1436115" y="1152922"/>
            <a:ext cx="182880" cy="35814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altLang="en-US" baseline="0" b="0" cap="none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48611" name="Rectangle 4"/>
          <p:cNvSpPr>
            <a:spLocks noChangeArrowheads="1"/>
          </p:cNvSpPr>
          <p:nvPr/>
        </p:nvSpPr>
        <p:spPr bwMode="auto">
          <a:xfrm rot="10800000" flipV="1">
            <a:off x="273429" y="1165015"/>
            <a:ext cx="8885877" cy="2225042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Rapid expansion of surveillance infrastructure has increased daily video data </a:t>
            </a:r>
          </a:p>
          <a:p>
            <a:pPr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generation in public and private spaces.</a:t>
            </a:r>
          </a:p>
          <a:p>
            <a:pPr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CCTV systems are widely used in transportation hubs, educational institutions,   </a:t>
            </a:r>
          </a:p>
          <a:p>
            <a:pPr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shopping centers, and residential areas for public safety.</a:t>
            </a:r>
          </a:p>
          <a:p>
            <a:pPr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Continuous manual monitoring is labor-intensive, inefficient, and prone to human </a:t>
            </a:r>
          </a:p>
          <a:p>
            <a:pPr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error.</a:t>
            </a:r>
          </a:p>
          <a:p>
            <a:pPr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Critical violent incidents may go unnoticed due to operator fatigue or delayed</a:t>
            </a:r>
          </a:p>
          <a:p>
            <a:pPr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response.</a:t>
            </a:r>
          </a:p>
        </p:txBody>
      </p:sp>
      <p:sp>
        <p:nvSpPr>
          <p:cNvPr id="1048612" name="Rectangle 5"/>
          <p:cNvSpPr>
            <a:spLocks noChangeArrowheads="1"/>
          </p:cNvSpPr>
          <p:nvPr/>
        </p:nvSpPr>
        <p:spPr bwMode="auto">
          <a:xfrm rot="10800000" flipV="1">
            <a:off x="328354" y="3481845"/>
            <a:ext cx="8487292" cy="142494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Traditional 2D image-based models focus only on spatial features and fail to</a:t>
            </a:r>
          </a:p>
          <a:p>
            <a:pPr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altLang="en-US" sz="1800" lang="en-US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capture temporal motion patterns.</a:t>
            </a:r>
          </a:p>
          <a:p>
            <a:pPr eaLnBrk="0" fontAlgn="base" hangingPunct="0"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altLang="en-US" sz="1800" lang="en-US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3D Convolutional Neural Networks (e.g., ResNet3D-18) process consecutive        frames as volumetric data, enabling effective spatio-temporal feature extraction</a:t>
            </a:r>
            <a:r>
              <a:rPr altLang="en-US" sz="1800" lang="en-US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altLang="en-US" baseline="0" b="0" cap="none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Problem Statement</a:t>
            </a:r>
            <a:endParaRPr lang="en-IN"/>
          </a:p>
        </p:txBody>
      </p:sp>
      <p:sp>
        <p:nvSpPr>
          <p:cNvPr id="1048616" name="Text Placeholder 2"/>
          <p:cNvSpPr>
            <a:spLocks noGrp="1"/>
          </p:cNvSpPr>
          <p:nvPr>
            <p:ph type="body" idx="1"/>
          </p:nvPr>
        </p:nvSpPr>
        <p:spPr>
          <a:xfrm>
            <a:off x="628650" y="1690692"/>
            <a:ext cx="7886700" cy="4351338"/>
          </a:xfrm>
        </p:spPr>
        <p:txBody>
          <a:bodyPr>
            <a:normAutofit/>
          </a:bodyPr>
          <a:p>
            <a:r>
              <a:rPr sz="1800" lang="en-I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Scale of Surveillance: </a:t>
            </a:r>
            <a: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Billions of CCTV feeds → impossible for humans to monitor continuously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operators experience a significant decline in attention during prolonged monitoring, resulting in missed detection of critical events such as violent activities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automated violence detection systems suffer from high false positive rates, often misclassifying non-violent actions (e.g., sports or playful interactions) as violence.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current approaches perform predictions on individual frames or short clips without incorporating temporal consistency, leading to unstable and unreliable outputs.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is a need for a system that is accurate, stable, and computationally efficient, capable of real-time deployment on standard hardware</a:t>
            </a:r>
            <a:r>
              <a:rPr sz="1800" lang="en-US">
                <a:latin typeface="+mn-lt"/>
              </a:rPr>
              <a:t>.</a:t>
            </a:r>
            <a:endParaRPr sz="1800" lang="en-IN">
              <a:latin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Research Gaps in Real-Time Violence Detection</a:t>
            </a:r>
            <a:endParaRPr lang="en-IN"/>
          </a:p>
        </p:txBody>
      </p:sp>
      <p:sp>
        <p:nvSpPr>
          <p:cNvPr id="1048618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3657" y="2178482"/>
            <a:ext cx="8316686" cy="355854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eaLnBrk="0" fontAlgn="base" hangingPunct="0" indent="-285750" marL="28575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altLang="en-US" baseline="0" b="1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Weak Temporal Understanding </a:t>
            </a:r>
            <a:b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 models fail to capture long-range temporal dependencies (beyond short clips like 16 frames) </a:t>
            </a:r>
          </a:p>
          <a:p>
            <a:pPr eaLnBrk="0" fontAlgn="base" hangingPunct="0" indent="-285750" marL="28575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altLang="en-US" baseline="0" b="1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High False Positives</a:t>
            </a:r>
            <a:b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Struggle to distinguish violence from similar actions (e.g., sports, playful interactions) </a:t>
            </a:r>
          </a:p>
          <a:p>
            <a:pPr eaLnBrk="0" fontAlgn="base" hangingPunct="0" indent="-285750" marL="28575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altLang="en-US" baseline="0" b="1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Lack of Real-Time Optimization</a:t>
            </a:r>
            <a:b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Heavy models</a:t>
            </a: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 computationally expensive → poor edge deployment </a:t>
            </a:r>
            <a:endParaRPr altLang="en-US" lang="zh-CN"/>
          </a:p>
          <a:p>
            <a:pPr eaLnBrk="0" fontAlgn="base" hangingPunct="0" indent="-285750" marL="28575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altLang="en-US" baseline="0" b="1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Insufficient Robustness</a:t>
            </a:r>
            <a:b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 drops under real-world conditions (low light, occlusion, camera motion) </a:t>
            </a:r>
          </a:p>
          <a:p>
            <a:pPr eaLnBrk="0" fontAlgn="base" hangingPunct="0" indent="-285750" marL="28575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b="1"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Scalability Issues</a:t>
            </a:r>
            <a:b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Difficulty handling multiple video streams simultaneously in real-time systems</a:t>
            </a:r>
            <a:endParaRPr altLang="en-US" baseline="0" b="0" cap="none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Google Shape;119;p17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7180263" cy="86995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Aim and Objectives</a:t>
            </a: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23" name="Rectangle 1"/>
          <p:cNvSpPr>
            <a:spLocks noChangeArrowheads="1"/>
          </p:cNvSpPr>
          <p:nvPr/>
        </p:nvSpPr>
        <p:spPr bwMode="auto">
          <a:xfrm>
            <a:off x="184731" y="1260733"/>
            <a:ext cx="8553579" cy="5958841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spAutoFit/>
          </a:bodyPr>
          <a:p>
            <a:pPr algn="just" eaLnBrk="0" fontAlgn="base" hangingPunct="0" lvl="0">
              <a:spcBef>
                <a:spcPct val="0"/>
              </a:spcBef>
              <a:spcAft>
                <a:spcPct val="0"/>
              </a:spcAft>
              <a:buClrTx/>
            </a:pPr>
            <a: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design and implement a real-time human violence detection system using  (ResNet3D-18) with improved detection stability for surveillance applications.</a:t>
            </a:r>
          </a:p>
          <a:p>
            <a:pPr algn="just" eaLnBrk="0" fontAlgn="base" hangingPunct="0" lvl="0">
              <a:spcBef>
                <a:spcPct val="0"/>
              </a:spcBef>
              <a:spcAft>
                <a:spcPct val="0"/>
              </a:spcAft>
              <a:buClrTx/>
            </a:pPr>
            <a:endParaRPr altLang="en-US" baseline="0" b="0" cap="none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85750" marL="285750">
              <a:buFont typeface="Arial" panose="020B0604020202020204" pitchFamily="34" charset="0"/>
              <a:buChar char="•"/>
            </a:pPr>
            <a:r>
              <a:rPr b="1"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Spatio-Temporal Feature Extraction: </a:t>
            </a:r>
            <a: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a deep learning framework using ResNet3D-18 to capture both spatial and motion-based features from video sequences.</a:t>
            </a:r>
          </a:p>
          <a:p>
            <a:pPr indent="-342900" marL="342900">
              <a:buFont typeface="Arial" panose="020B0604020202020204" pitchFamily="34" charset="0"/>
              <a:buChar char="•"/>
            </a:pPr>
            <a:endParaRPr sz="1800"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85750" marL="285750">
              <a:buFont typeface="Arial" panose="020B0604020202020204" pitchFamily="34" charset="0"/>
              <a:buChar char="•"/>
            </a:pPr>
            <a:r>
              <a:rPr b="1"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Video Clip Processing: </a:t>
            </a:r>
            <a: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 short clips of 16 consecutive frames to effectively model temporal dynamics.</a:t>
            </a:r>
          </a:p>
          <a:p>
            <a:pPr indent="-285750" marL="285750">
              <a:buFont typeface="Arial" panose="020B0604020202020204" pitchFamily="34" charset="0"/>
              <a:buChar char="•"/>
            </a:pPr>
            <a:endParaRPr sz="1800"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85750" marL="285750">
              <a:buFont typeface="Arial" panose="020B0604020202020204" pitchFamily="34" charset="0"/>
              <a:buChar char="•"/>
            </a:pPr>
            <a:r>
              <a:rPr b="1"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Detection Stability Enhancement: </a:t>
            </a:r>
            <a: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a confidence-gated temporal voting mechanism to reduce false-positive alerts.</a:t>
            </a:r>
          </a:p>
          <a:p>
            <a:pPr indent="-285750" marL="285750">
              <a:buFont typeface="Arial" panose="020B0604020202020204" pitchFamily="34" charset="0"/>
              <a:buChar char="•"/>
            </a:pPr>
            <a:endParaRPr sz="1800"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85750" marL="285750">
              <a:buFont typeface="Arial" panose="020B0604020202020204" pitchFamily="34" charset="0"/>
              <a:buChar char="•"/>
            </a:pPr>
            <a:r>
              <a:rPr b="1"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Sustained Alert Mechanism: </a:t>
            </a:r>
            <a: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Trigger violence alerts only when prediction confidence exceeds 0.85 across five consecutive evaluations.</a:t>
            </a:r>
          </a:p>
          <a:p>
            <a:pPr indent="-285750" marL="285750">
              <a:buFont typeface="Arial" panose="020B0604020202020204" pitchFamily="34" charset="0"/>
              <a:buChar char="•"/>
            </a:pPr>
            <a:endParaRPr sz="1800"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85750" marL="285750">
              <a:buFont typeface="Arial" panose="020B0604020202020204" pitchFamily="34" charset="0"/>
              <a:buChar char="•"/>
            </a:pPr>
            <a:r>
              <a:rPr b="1"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Performance Evaluation: </a:t>
            </a:r>
            <a: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Assess system performance using standard classification metrics such as accuracy, precision, recall, and F1-score.</a:t>
            </a:r>
          </a:p>
          <a:p>
            <a:pPr algn="just" eaLnBrk="0" fontAlgn="base" hangingPunct="0" indent="-285750" marL="28575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sz="18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 indent="-285750" marL="28575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sz="18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 indent="-285750" marL="28575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sz="18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Google Shape;125;p18"/>
          <p:cNvSpPr txBox="1">
            <a:spLocks noGrp="1"/>
          </p:cNvSpPr>
          <p:nvPr>
            <p:ph type="title"/>
          </p:nvPr>
        </p:nvSpPr>
        <p:spPr>
          <a:xfrm>
            <a:off x="1223645" y="0"/>
            <a:ext cx="7178675" cy="134429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</a:t>
            </a:r>
            <a:b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27" name="Google Shape;125;p18"/>
          <p:cNvSpPr txBox="1"/>
          <p:nvPr/>
        </p:nvSpPr>
        <p:spPr>
          <a:xfrm>
            <a:off x="1123315" y="864870"/>
            <a:ext cx="7178675" cy="573786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just" defTabSz="914400" eaLnBrk="1" fontAlgn="auto" hangingPunct="1" indent="0" latinLnBrk="0" lvl="0" mar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endParaRPr baseline="0" b="0" cap="none" sz="6400" i="0" kern="0" kumimoji="0" lang="en-GB" noProof="0" normalizeH="0" spc="0" strike="noStrike" u="none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4194304" name="Table 1"/>
          <p:cNvGraphicFramePr>
            <a:graphicFrameLocks/>
          </p:cNvGraphicFramePr>
          <p:nvPr/>
        </p:nvGraphicFramePr>
        <p:xfrm>
          <a:off x="0" y="697865"/>
          <a:ext cx="9144000" cy="615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2780"/>
                <a:gridCol w="1720215"/>
                <a:gridCol w="1563370"/>
                <a:gridCol w="1302385"/>
                <a:gridCol w="788670"/>
                <a:gridCol w="1040765"/>
                <a:gridCol w="2075815"/>
              </a:tblGrid>
              <a:tr h="56769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altLang="en-US" lang="en-IN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altLang="en-US"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Title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Authors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Journal/Conference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Year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Key Focus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Key Findings</a:t>
                      </a:r>
                    </a:p>
                  </a:txBody>
                </a:tc>
              </a:tr>
              <a:tr h="1863725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A Survey of UAV Applications in Civilian Missions: Challenges and Future Trends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/>
                        <a:t>E. </a:t>
                      </a:r>
                      <a:r>
                        <a:rPr lang="en-IN" err="1"/>
                        <a:t>Yanmaz</a:t>
                      </a:r>
                      <a:r>
                        <a:rPr lang="en-IN"/>
                        <a:t>, I. </a:t>
                      </a:r>
                      <a:r>
                        <a:rPr lang="en-IN" err="1"/>
                        <a:t>Güvenç</a:t>
                      </a:r>
                      <a:r>
                        <a:rPr lang="en-IN"/>
                        <a:t>, Y. </a:t>
                      </a:r>
                      <a:r>
                        <a:rPr lang="en-IN" err="1"/>
                        <a:t>Mulgaonkar</a:t>
                      </a:r>
                      <a:r>
                        <a:rPr lang="en-IN"/>
                        <a:t>, R. </a:t>
                      </a:r>
                      <a:r>
                        <a:rPr lang="en-IN" err="1"/>
                        <a:t>Ohare</a:t>
                      </a:r>
                      <a:r>
                        <a:rPr lang="en-IN"/>
                        <a:t>, D. Schmale</a:t>
                      </a:r>
                      <a:endParaRPr lang="en-US"/>
                    </a:p>
                  </a:txBody>
                </a:tc>
                <a:tc>
                  <a:txBody>
                    <a:bodyPr/>
                    <a:p>
                      <a:r>
                        <a:rPr lang="en-IN"/>
                        <a:t>Ad Hoc Networks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/>
                        <a:t>2018</a:t>
                      </a:r>
                      <a:endParaRPr lang="en-US"/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Civilian applications of drones, including surveillance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Discusses challenges and future trends in UAV applications, emphasizing their potential in surveillance missions.</a:t>
                      </a:r>
                    </a:p>
                  </a:txBody>
                </a:tc>
              </a:tr>
              <a:tr h="186436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Deep Learning for Real-Time Human Action Recognition with UAVs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/>
                        <a:t>P. Molchanov, S. Gupta, K. Kim, K. </a:t>
                      </a:r>
                      <a:r>
                        <a:rPr lang="en-IN" err="1"/>
                        <a:t>Pulli</a:t>
                      </a:r>
                      <a:endParaRPr lang="en-US"/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Proceedings of the IEEE Conference on Computer Vision and Pattern Recognition Workshops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2016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Application of deep learning for UAV-based action recognition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Highlights the implementation and accuracy of deep learning models for real-time human action recognition using UAVs.</a:t>
                      </a:r>
                    </a:p>
                  </a:txBody>
                </a:tc>
              </a:tr>
              <a:tr h="18637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Multi-Sensor Fusion for Robust UAV-Based Human Action Recognition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M. H. ElSayed, A. M. Ahmed, H. A. </a:t>
                      </a:r>
                      <a:r>
                        <a:rPr lang="en-US" err="1"/>
                        <a:t>AboElFotoh</a:t>
                      </a:r>
                      <a:endParaRPr lang="en-US"/>
                    </a:p>
                  </a:txBody>
                </a:tc>
                <a:tc>
                  <a:txBody>
                    <a:bodyPr/>
                    <a:p>
                      <a:r>
                        <a:rPr lang="en-IN"/>
                        <a:t>IEEE Sensors Journal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2020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Integration of multiple sensors for UAV-based action recognition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Demonstrates the benefits of sensor fusion techniques in enhancing the robustness of UAV-based human action recognition.</a:t>
                      </a:r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Google Shape;125;p18"/>
          <p:cNvSpPr txBox="1">
            <a:spLocks noGrp="1"/>
          </p:cNvSpPr>
          <p:nvPr>
            <p:ph type="title"/>
          </p:nvPr>
        </p:nvSpPr>
        <p:spPr>
          <a:xfrm>
            <a:off x="1223645" y="0"/>
            <a:ext cx="7178675" cy="134429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</a:t>
            </a:r>
            <a:br>
              <a:rPr lang="en-GB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31" name="Google Shape;125;p18"/>
          <p:cNvSpPr txBox="1"/>
          <p:nvPr/>
        </p:nvSpPr>
        <p:spPr>
          <a:xfrm>
            <a:off x="1123315" y="864870"/>
            <a:ext cx="7178675" cy="573786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just" defTabSz="914400" eaLnBrk="1" fontAlgn="auto" hangingPunct="1" indent="0" latinLnBrk="0" lvl="0" mar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endParaRPr baseline="0" b="0" cap="none" sz="6400" i="0" kern="0" kumimoji="0" lang="en-GB" noProof="0" normalizeH="0" spc="0" strike="noStrike" u="none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4194305" name="Table 1"/>
          <p:cNvGraphicFramePr>
            <a:graphicFrameLocks/>
          </p:cNvGraphicFramePr>
          <p:nvPr/>
        </p:nvGraphicFramePr>
        <p:xfrm>
          <a:off x="0" y="697865"/>
          <a:ext cx="9144000" cy="615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2780"/>
                <a:gridCol w="1720215"/>
                <a:gridCol w="1563370"/>
                <a:gridCol w="1302385"/>
                <a:gridCol w="788670"/>
                <a:gridCol w="1040765"/>
                <a:gridCol w="2075815"/>
              </a:tblGrid>
              <a:tr h="56769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altLang="en-US" lang="en-IN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altLang="en-US"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Title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Authors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Journal/Conference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Year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Key Focus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Key Findings</a:t>
                      </a:r>
                    </a:p>
                  </a:txBody>
                </a:tc>
              </a:tr>
              <a:tr h="1863725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Real-Time Action Recognition in Surveillance Video Using Deep Learning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/>
                        <a:t>K. Simonyan, A. Zisserman</a:t>
                      </a:r>
                      <a:endParaRPr lang="en-US"/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err="1"/>
                        <a:t>arXiv</a:t>
                      </a:r>
                      <a:r>
                        <a:rPr lang="en-IN"/>
                        <a:t> preprint arXiv:1409.1556</a:t>
                      </a:r>
                      <a:endParaRPr lang="en-US"/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2014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Deep learning framework for action recognition in surveillance videos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Proposes a deep learning framework for real-time action recognition, applicable to UAV-based surveillance systems.</a:t>
                      </a:r>
                    </a:p>
                  </a:txBody>
                </a:tc>
              </a:tr>
              <a:tr h="186436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Unmanned Aerial Vehicles for Long-Term Public Safety Monitoring: A Review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s-ES"/>
                        <a:t>G. F. </a:t>
                      </a:r>
                      <a:r>
                        <a:rPr lang="es-ES" err="1"/>
                        <a:t>Nunez</a:t>
                      </a:r>
                      <a:r>
                        <a:rPr lang="es-ES"/>
                        <a:t>, A. J. </a:t>
                      </a:r>
                      <a:r>
                        <a:rPr lang="es-ES" err="1"/>
                        <a:t>Perez</a:t>
                      </a:r>
                      <a:r>
                        <a:rPr lang="es-ES"/>
                        <a:t>, J. B. </a:t>
                      </a:r>
                      <a:r>
                        <a:rPr lang="es-ES" err="1"/>
                        <a:t>Nunez</a:t>
                      </a:r>
                      <a:endParaRPr lang="en-US"/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/>
                        <a:t>IEEE Access</a:t>
                      </a:r>
                      <a:endParaRPr lang="en-US"/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2018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Use of UAVs for public safety monitoring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/>
                        <a:t>Reviews technological advancements and operational challenges in using UAVs for long-term public safety monitoring.</a:t>
                      </a:r>
                    </a:p>
                  </a:txBody>
                </a:tc>
              </a:tr>
              <a:tr h="18637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/>
                        <a:t>A Comprehensive Survey on Multi-Sensor Fusion for Video Surveillance</a:t>
                      </a:r>
                      <a:endParaRPr lang="en-US"/>
                    </a:p>
                  </a:txBody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/>
                        <a:t>F. </a:t>
                      </a:r>
                      <a:r>
                        <a:rPr lang="en-IN" err="1"/>
                        <a:t>Castanedo</a:t>
                      </a:r>
                      <a:endParaRPr lang="en-US"/>
                    </a:p>
                  </a:txBody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/>
                        <a:t>Sensors</a:t>
                      </a:r>
                      <a:endParaRPr lang="en-US"/>
                    </a:p>
                  </a:txBody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2013</a:t>
                      </a:r>
                    </a:p>
                  </a:txBody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fr-FR"/>
                        <a:t>Multi-</a:t>
                      </a:r>
                      <a:r>
                        <a:rPr lang="fr-FR" err="1"/>
                        <a:t>sensor</a:t>
                      </a:r>
                      <a:r>
                        <a:rPr lang="fr-FR"/>
                        <a:t> fusion techniques for </a:t>
                      </a:r>
                      <a:r>
                        <a:rPr lang="fr-FR" err="1"/>
                        <a:t>video</a:t>
                      </a:r>
                      <a:r>
                        <a:rPr lang="fr-FR"/>
                        <a:t> surveillance</a:t>
                      </a:r>
                      <a:endParaRPr lang="en-US"/>
                    </a:p>
                  </a:txBody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Provides an overview of multi-sensor fusion techniques, relevant for enhancing the accuracy of UAV-based human action recognition.</a:t>
                      </a:r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>
            <a:spLocks noGrp="1"/>
          </p:cNvSpPr>
          <p:nvPr>
            <p:ph type="title"/>
          </p:nvPr>
        </p:nvSpPr>
        <p:spPr>
          <a:xfrm>
            <a:off x="628650" y="81717"/>
            <a:ext cx="7886700" cy="987421"/>
          </a:xfrm>
        </p:spPr>
        <p:txBody>
          <a:bodyPr>
            <a:normAutofit/>
          </a:bodyPr>
          <a:p>
            <a:r>
              <a:rPr sz="4000" lang="en-IN"/>
              <a:t>ResNet3D-18 Architecture:</a:t>
            </a:r>
          </a:p>
        </p:txBody>
      </p:sp>
      <p:sp>
        <p:nvSpPr>
          <p:cNvPr id="1048635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44500" y="1025889"/>
            <a:ext cx="10372670" cy="2758442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ResNet3D-18 is a Convolutional Neural Network for video understanding.</a:t>
            </a:r>
          </a:p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Extends 2D </a:t>
            </a:r>
            <a:r>
              <a:rPr altLang="en-US" baseline="0" b="0" cap="none" sz="1800" i="0" kumimoji="0" lang="en-US" normalizeH="0" err="1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ResNet</a:t>
            </a: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replacing 2D convolutions with </a:t>
            </a:r>
            <a:r>
              <a:rPr altLang="en-US" baseline="0" b="1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3D convolutions</a:t>
            </a: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altLang="en-US" sz="1800" 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sz="1800" lang="en-US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ResNet</a:t>
            </a:r>
            <a: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solves Vanishing gradients &amp; Degradation problems by using: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b="1"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Residual Connections</a:t>
            </a:r>
            <a:endParaRPr altLang="en-US" baseline="0" b="0" cap="none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Processes video as volumetric input: </a:t>
            </a:r>
            <a:r>
              <a:rPr altLang="en-US" baseline="0" b="1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× 16 × 112 × 112</a:t>
            </a:r>
            <a:b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(RGB channels × frames × height × width)</a:t>
            </a:r>
          </a:p>
          <a:p>
            <a:pPr algn="l" defTabSz="914400" eaLnBrk="0" fontAlgn="base" hangingPunct="0" indent="-285750" latinLnBrk="0" lvl="0" marL="28575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Extracts both </a:t>
            </a:r>
            <a:r>
              <a:rPr altLang="en-US" baseline="0" b="1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spatial (appearance)</a:t>
            </a: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altLang="en-US" baseline="0" b="1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temporal (motion)</a:t>
            </a: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features.</a:t>
            </a:r>
          </a:p>
          <a:p>
            <a:pPr eaLnBrk="0" fontAlgn="base" hangingPunct="0" indent="-285750" lvl="0" marL="28575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3D CNN:</a:t>
            </a:r>
            <a:b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Processes video.</a:t>
            </a:r>
            <a:b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Kernel shape: (time, height, width)</a:t>
            </a:r>
            <a:endParaRPr altLang="en-US" baseline="0" b="0" cap="none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97155" name="Picture 3" descr="Original ResNet-18 Architecture | Download Scientific Diagram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628650" y="4051904"/>
            <a:ext cx="7588593" cy="2513996"/>
          </a:xfrm>
          <a:prstGeom prst="rect"/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>
          <a:xfrm>
            <a:off x="517439" y="365129"/>
            <a:ext cx="7886700" cy="1325563"/>
          </a:xfrm>
        </p:spPr>
        <p:txBody>
          <a:bodyPr/>
          <a:p>
            <a:r>
              <a:rPr lang="en-IN"/>
              <a:t>Existing Models:</a:t>
            </a:r>
          </a:p>
        </p:txBody>
      </p:sp>
      <p:sp>
        <p:nvSpPr>
          <p:cNvPr id="1048637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7439" y="1768380"/>
            <a:ext cx="8432800" cy="4091941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1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altLang="en-US" baseline="0" b="1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YOLO-based Violence Detection Systems</a:t>
            </a:r>
            <a:b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Widely used in modern surveillance for </a:t>
            </a:r>
            <a:r>
              <a:rPr altLang="en-US" baseline="0" b="1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detection</a:t>
            </a: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due to speed and  efficiency. These systems analyze live CCTV feeds and trigger alerts instantly.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1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CNN + LSTM-Based Systems</a:t>
            </a:r>
            <a:b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Combine spatial (CNN) and temporal (LSTM) features to detect violent activities  in video sequences.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altLang="en-US" baseline="0" b="0" cap="none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1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3D CNN Models (C3D, I3D, SlowFast)</a:t>
            </a:r>
            <a:b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Advanced deep learning models that process video clips to capture motion and appearance, achieving high accuracy but requiring heavy computation.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1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Vi-SAFE (YOLO + Temporal Networks)</a:t>
            </a:r>
            <a:b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Hybrid system combining object detection (YOLO) with temporal analysis for    improved accuracy (~88%), but requires GPU-based infrastructure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Text Placeholder 2"/>
          <p:cNvSpPr>
            <a:spLocks noGrp="1"/>
          </p:cNvSpPr>
          <p:nvPr>
            <p:ph type="title"/>
          </p:nvPr>
        </p:nvSpPr>
        <p:spPr>
          <a:xfrm>
            <a:off x="352697" y="365126"/>
            <a:ext cx="9091749" cy="1045664"/>
          </a:xfrm>
        </p:spPr>
        <p:txBody>
          <a:bodyPr>
            <a:normAutofit fontScale="90000"/>
          </a:bodyPr>
          <a:p>
            <a:r>
              <a:rPr sz="4000" lang="en-US"/>
              <a:t>Comparative Analysis with Existing Models:</a:t>
            </a:r>
            <a:endParaRPr sz="4000" lang="en-IN"/>
          </a:p>
        </p:txBody>
      </p:sp>
      <p:graphicFrame>
        <p:nvGraphicFramePr>
          <p:cNvPr id="4194306" name="Table 4"/>
          <p:cNvGraphicFramePr>
            <a:graphicFrameLocks noGrp="1"/>
          </p:cNvGraphicFramePr>
          <p:nvPr/>
        </p:nvGraphicFramePr>
        <p:xfrm>
          <a:off x="352697" y="1410789"/>
          <a:ext cx="8438604" cy="4859380"/>
        </p:xfrm>
        <a:graphic>
          <a:graphicData uri="http://schemas.openxmlformats.org/drawingml/2006/table">
            <a:tbl>
              <a:tblPr/>
              <a:tblGrid>
                <a:gridCol w="2812868"/>
                <a:gridCol w="2812868"/>
                <a:gridCol w="2812868"/>
              </a:tblGrid>
              <a:tr h="408351">
                <a:tc>
                  <a:txBody>
                    <a:bodyPr/>
                    <a:p>
                      <a:pPr>
                        <a:buNone/>
                      </a:pPr>
                      <a:r>
                        <a:rPr b="1" lang="en-IN"/>
                        <a:t>Model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b="1" lang="en-IN"/>
                        <a:t>Main Problem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b="1" lang="en-IN"/>
                        <a:t>Our Improvement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94197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/>
                        <a:t>C3D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Too heavy → cannot run on normal computers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Runs on </a:t>
                      </a:r>
                      <a:r>
                        <a:rPr b="0" lang="en-US"/>
                        <a:t>CPU with fewer parameters (~33M)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94197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/>
                        <a:t>SlowFast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Needs multiple GPUs → expensive and complex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Works on </a:t>
                      </a:r>
                      <a:r>
                        <a:rPr b="0" lang="en-US"/>
                        <a:t>CPU or single GPU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94197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/>
                        <a:t>I3D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High accuracy but slow and resource-heavy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b="0" lang="en-US"/>
                        <a:t>Fast + accurate</a:t>
                      </a:r>
                      <a:r>
                        <a:rPr lang="en-US"/>
                        <a:t>, suitable for real-time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80044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/>
                        <a:t>YOLO-based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Detects frame-by-frame → misses motion, causes false alerts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/>
                        <a:t>Uses </a:t>
                      </a:r>
                      <a:r>
                        <a:rPr b="0" lang="en-IN"/>
                        <a:t>16-frame video input </a:t>
                      </a:r>
                      <a:r>
                        <a:rPr lang="en-IN"/>
                        <a:t>→ understands motion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94197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/>
                        <a:t>CNN + LSTM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Slow due to two-step 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b="0" lang="en-IN"/>
                        <a:t>Single-step model </a:t>
                      </a:r>
                      <a:r>
                        <a:rPr lang="en-IN"/>
                        <a:t>→ faster prediction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94197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/>
                        <a:t>Vi-SAFE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pt-BR"/>
                        <a:t>Requires GPU, no false-alert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b="0" lang="en-US"/>
                        <a:t>Runs on CPU + reduces false alerts using voting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TextBox 2"/>
          <p:cNvSpPr txBox="1"/>
          <p:nvPr/>
        </p:nvSpPr>
        <p:spPr>
          <a:xfrm>
            <a:off x="2717799" y="88900"/>
            <a:ext cx="4572000" cy="1412240"/>
          </a:xfrm>
          <a:prstGeom prst="rect"/>
          <a:noFill/>
        </p:spPr>
        <p:txBody>
          <a:bodyPr wrap="square">
            <a:spAutoFit/>
          </a:bodyPr>
          <a:p>
            <a:r>
              <a:rPr sz="44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br>
              <a:rPr sz="4400"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4400" lang="en-IN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48640" name="TextBox 4"/>
          <p:cNvSpPr txBox="1"/>
          <p:nvPr/>
        </p:nvSpPr>
        <p:spPr>
          <a:xfrm>
            <a:off x="203201" y="920621"/>
            <a:ext cx="8940799" cy="1424940"/>
          </a:xfrm>
          <a:prstGeom prst="rect"/>
          <a:noFill/>
        </p:spPr>
        <p:txBody>
          <a:bodyPr wrap="square">
            <a:spAutoFit/>
          </a:bodyPr>
          <a:p>
            <a:pPr marL="167640"/>
            <a: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proposed framework is designed to perform real-time violence detection from live video streams. The system processes short video clips extracted from continuous input, enabling </a:t>
            </a:r>
            <a:r>
              <a:rPr sz="1800" lang="en-US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spatio</a:t>
            </a:r>
            <a: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-temporal feature learning for robust classification. </a:t>
            </a:r>
          </a:p>
          <a:p>
            <a:pPr algn="just" marL="167640"/>
            <a:endParaRPr sz="1800" lang="en-US"/>
          </a:p>
          <a:p>
            <a:endParaRPr sz="1800" lang="en-US"/>
          </a:p>
        </p:txBody>
      </p:sp>
      <p:sp>
        <p:nvSpPr>
          <p:cNvPr id="1048641" name="Rectangle 3"/>
          <p:cNvSpPr>
            <a:spLocks noChangeArrowheads="1"/>
          </p:cNvSpPr>
          <p:nvPr/>
        </p:nvSpPr>
        <p:spPr bwMode="auto">
          <a:xfrm rot="10800000" flipV="1">
            <a:off x="203201" y="5878532"/>
            <a:ext cx="8839198" cy="369332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algn="l" defTabSz="914400" eaLnBrk="0" fontAlgn="base" hangingPunct="0" latinLnBrk="0" lv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048642" name="Rectangle 1"/>
          <p:cNvSpPr>
            <a:spLocks noChangeArrowheads="1"/>
          </p:cNvSpPr>
          <p:nvPr/>
        </p:nvSpPr>
        <p:spPr bwMode="auto">
          <a:xfrm>
            <a:off x="587322" y="2252602"/>
            <a:ext cx="7932563" cy="3558541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1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altLang="en-US" baseline="0" b="1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 Input:</a:t>
            </a: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Live / recorded stream → frame extraction 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altLang="en-US" baseline="0" b="0" cap="none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1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Clip Creation:</a:t>
            </a: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16-frame sliding window </a:t>
            </a:r>
            <a:r>
              <a:rPr altLang="en-US" baseline="0" b="0" cap="none" sz="1800" i="1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(3×16×112×112)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altLang="en-US" baseline="0" b="0" cap="none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1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Preprocessing:</a:t>
            </a: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Resize + normalize 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altLang="en-US" baseline="0" b="0" cap="none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b="1"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Feature Extraction: </a:t>
            </a:r>
            <a: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ResNet3D-18 for spatio-temporal learning</a:t>
            </a:r>
          </a:p>
          <a:p>
            <a:pPr eaLnBrk="0" fontAlgn="base" hangingPunct="0"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sz="1800"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altLang="en-US" baseline="0" b="1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Classification:</a:t>
            </a: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FC (512→2) + Softmax </a:t>
            </a:r>
            <a:r>
              <a:rPr altLang="en-US" baseline="0" b="0" cap="none" sz="1800" i="1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(Violent / Non-Violent)</a:t>
            </a:r>
          </a:p>
          <a:p>
            <a:pPr eaLnBrk="0" fontAlgn="base" hangingPunct="0" lvl="0">
              <a:spcBef>
                <a:spcPct val="0"/>
              </a:spcBef>
              <a:spcAft>
                <a:spcPct val="0"/>
              </a:spcAft>
              <a:buClrTx/>
            </a:pPr>
            <a:endParaRPr altLang="en-US" baseline="0" b="0" cap="none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1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Decision:</a:t>
            </a: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Alert if confidence ≥ 0.85 for 5 consecutive frames 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altLang="en-US" baseline="0" b="0" cap="none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altLang="en-US" baseline="0" b="1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Deployment:</a:t>
            </a: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prototype web-based interface (Gradio) for real-time testing</a:t>
            </a:r>
            <a:endParaRPr altLang="en-US" baseline="0" b="0" cap="none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Title 1"/>
          <p:cNvSpPr>
            <a:spLocks noGrp="1"/>
          </p:cNvSpPr>
          <p:nvPr>
            <p:ph type="title"/>
          </p:nvPr>
        </p:nvSpPr>
        <p:spPr>
          <a:xfrm>
            <a:off x="526192" y="-110493"/>
            <a:ext cx="7886700" cy="1325563"/>
          </a:xfrm>
        </p:spPr>
        <p:txBody>
          <a:bodyPr/>
          <a:p>
            <a:r>
              <a:rPr sz="3200" lang="en-IN"/>
              <a:t>Experimental Results</a:t>
            </a:r>
            <a:r>
              <a:rPr lang="en-IN"/>
              <a:t>:</a:t>
            </a:r>
          </a:p>
        </p:txBody>
      </p:sp>
      <p:pic>
        <p:nvPicPr>
          <p:cNvPr id="2097156" name="Picture 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079937" y="1691732"/>
            <a:ext cx="5097429" cy="3733708"/>
          </a:xfrm>
          <a:prstGeom prst="rect"/>
        </p:spPr>
      </p:pic>
      <p:sp>
        <p:nvSpPr>
          <p:cNvPr id="1048647" name="TextBox 6"/>
          <p:cNvSpPr txBox="1"/>
          <p:nvPr/>
        </p:nvSpPr>
        <p:spPr>
          <a:xfrm>
            <a:off x="362941" y="1280867"/>
            <a:ext cx="4572000" cy="261610"/>
          </a:xfrm>
          <a:prstGeom prst="rect"/>
          <a:noFill/>
        </p:spPr>
        <p:txBody>
          <a:bodyPr wrap="square">
            <a:spAutoFit/>
          </a:bodyPr>
          <a:p>
            <a:pPr algn="l" latinLnBrk="1">
              <a:lnSpc>
                <a:spcPts val="1219"/>
              </a:lnSpc>
              <a:buNone/>
            </a:pPr>
            <a:r>
              <a:rPr b="0" i="0" lang="en-IN">
                <a:effectLst/>
                <a:latin typeface="Courier New" panose="02070309020205020404" pitchFamily="49" charset="0"/>
              </a:rPr>
              <a:t> </a:t>
            </a:r>
            <a:r>
              <a:rPr b="1" i="0" lang="en-IN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 SET EVALUATION RESULTS</a:t>
            </a:r>
            <a:r>
              <a:rPr b="0" i="0" lang="en-IN">
                <a:effectLst/>
                <a:latin typeface="Courier New" panose="02070309020205020404" pitchFamily="49" charset="0"/>
              </a:rPr>
              <a:t>:</a:t>
            </a:r>
          </a:p>
        </p:txBody>
      </p:sp>
      <p:sp>
        <p:nvSpPr>
          <p:cNvPr id="1048648" name="TextBox 8"/>
          <p:cNvSpPr txBox="1"/>
          <p:nvPr/>
        </p:nvSpPr>
        <p:spPr>
          <a:xfrm>
            <a:off x="526192" y="1608274"/>
            <a:ext cx="4572000" cy="2870529"/>
          </a:xfrm>
          <a:prstGeom prst="rect"/>
          <a:noFill/>
        </p:spPr>
        <p:txBody>
          <a:bodyPr wrap="square">
            <a:spAutoFit/>
          </a:bodyPr>
          <a:p>
            <a:pPr latinLnBrk="1">
              <a:lnSpc>
                <a:spcPts val="1219"/>
              </a:lnSpc>
              <a:buNone/>
            </a:pPr>
            <a:r>
              <a:rPr b="0" sz="1600" i="0" lang="en-IN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  : 97.95%</a:t>
            </a:r>
          </a:p>
          <a:p>
            <a:pPr latinLnBrk="1">
              <a:lnSpc>
                <a:spcPts val="1219"/>
              </a:lnSpc>
              <a:buNone/>
            </a:pPr>
            <a:endParaRPr b="0" sz="1600" i="0" lang="en-IN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atinLnBrk="1">
              <a:lnSpc>
                <a:spcPts val="1219"/>
              </a:lnSpc>
              <a:buNone/>
            </a:pPr>
            <a:r>
              <a:rPr b="0" sz="1600" i="0" lang="en-IN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Precision : 98.00%</a:t>
            </a:r>
          </a:p>
          <a:p>
            <a:pPr latinLnBrk="1">
              <a:lnSpc>
                <a:spcPts val="1219"/>
              </a:lnSpc>
              <a:buNone/>
            </a:pPr>
            <a:endParaRPr b="0" sz="1600" i="0" lang="en-IN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atinLnBrk="1">
              <a:lnSpc>
                <a:spcPts val="1219"/>
              </a:lnSpc>
              <a:buNone/>
            </a:pPr>
            <a:r>
              <a:rPr b="0" sz="1600" i="0" lang="en-IN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    : 98.00%</a:t>
            </a:r>
          </a:p>
          <a:p>
            <a:pPr latinLnBrk="1">
              <a:lnSpc>
                <a:spcPts val="1219"/>
              </a:lnSpc>
              <a:buNone/>
            </a:pPr>
            <a:endParaRPr b="0" sz="1600" i="0" lang="en-IN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atinLnBrk="1">
              <a:lnSpc>
                <a:spcPts val="1219"/>
              </a:lnSpc>
              <a:buNone/>
            </a:pPr>
            <a:r>
              <a:rPr b="0" sz="1600" i="0" lang="en-IN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F1 Score  : 98.00%</a:t>
            </a:r>
          </a:p>
          <a:p>
            <a:pPr algn="l" latinLnBrk="1">
              <a:lnSpc>
                <a:spcPts val="1219"/>
              </a:lnSpc>
              <a:buNone/>
            </a:pPr>
            <a:endParaRPr sz="1600"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latinLnBrk="1">
              <a:lnSpc>
                <a:spcPts val="1219"/>
              </a:lnSpc>
              <a:buNone/>
            </a:pPr>
            <a:endParaRPr b="0" sz="1600" i="0" lang="en-IN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latinLnBrk="1">
              <a:lnSpc>
                <a:spcPts val="1219"/>
              </a:lnSpc>
              <a:buNone/>
            </a:pPr>
            <a:r>
              <a:rPr b="1" sz="1600" i="0" lang="en-IN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Confusion Matrix:</a:t>
            </a:r>
          </a:p>
          <a:p>
            <a:pPr algn="l" latinLnBrk="1">
              <a:lnSpc>
                <a:spcPts val="1219"/>
              </a:lnSpc>
              <a:buNone/>
            </a:pPr>
            <a:endParaRPr b="1" sz="1600" i="0" lang="en-IN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latinLnBrk="1">
              <a:lnSpc>
                <a:spcPts val="1219"/>
              </a:lnSpc>
              <a:buNone/>
            </a:pPr>
            <a:r>
              <a:rPr b="0" sz="1600" i="0" lang="en-IN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TP  Violent   → Violent    : 147</a:t>
            </a:r>
          </a:p>
          <a:p>
            <a:pPr algn="l" latinLnBrk="1">
              <a:lnSpc>
                <a:spcPts val="1219"/>
              </a:lnSpc>
              <a:buNone/>
            </a:pPr>
            <a:endParaRPr b="0" sz="1600" i="0" lang="en-IN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latinLnBrk="1">
              <a:lnSpc>
                <a:spcPts val="1219"/>
              </a:lnSpc>
              <a:buNone/>
            </a:pPr>
            <a:r>
              <a:rPr b="0" sz="1600" i="0" lang="en-IN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TN  </a:t>
            </a:r>
            <a:r>
              <a:rPr b="0" sz="1600" i="0" lang="en-IN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NonViolent</a:t>
            </a:r>
            <a:r>
              <a:rPr b="0" sz="1600" i="0" lang="en-IN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 → </a:t>
            </a:r>
            <a:r>
              <a:rPr b="0" sz="1600" i="0" lang="en-IN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NonViolent</a:t>
            </a:r>
            <a:r>
              <a:rPr b="0" sz="1600" i="0" lang="en-IN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  : 140</a:t>
            </a:r>
          </a:p>
          <a:p>
            <a:pPr algn="l" latinLnBrk="1">
              <a:lnSpc>
                <a:spcPts val="1219"/>
              </a:lnSpc>
              <a:buNone/>
            </a:pPr>
            <a:endParaRPr b="0" sz="1600" i="0" lang="en-IN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latinLnBrk="1">
              <a:lnSpc>
                <a:spcPts val="1219"/>
              </a:lnSpc>
              <a:buNone/>
            </a:pPr>
            <a:r>
              <a:rPr b="0" sz="1600" i="0" lang="en-IN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FP  </a:t>
            </a:r>
            <a:r>
              <a:rPr b="0" sz="1600" i="0" lang="en-IN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NonViolent</a:t>
            </a:r>
            <a:r>
              <a:rPr b="0" sz="1600" i="0" lang="en-IN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 → Violent    : 3</a:t>
            </a:r>
          </a:p>
          <a:p>
            <a:pPr algn="l" latinLnBrk="1">
              <a:lnSpc>
                <a:spcPts val="1219"/>
              </a:lnSpc>
              <a:buNone/>
            </a:pPr>
            <a:endParaRPr b="0" sz="1600" i="0" lang="en-IN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latinLnBrk="1">
              <a:lnSpc>
                <a:spcPts val="1219"/>
              </a:lnSpc>
              <a:buNone/>
            </a:pPr>
            <a:r>
              <a:rPr b="0" sz="1600" i="0" lang="en-IN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FN  Violent   → </a:t>
            </a:r>
            <a:r>
              <a:rPr b="0" sz="1600" i="0" lang="en-IN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NonViolent</a:t>
            </a:r>
            <a:r>
              <a:rPr b="0" sz="1600" i="0" lang="en-IN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  : 3</a:t>
            </a:r>
            <a:endParaRPr sz="1600"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8649" name="TextBox 10"/>
          <p:cNvSpPr txBox="1"/>
          <p:nvPr/>
        </p:nvSpPr>
        <p:spPr>
          <a:xfrm>
            <a:off x="526192" y="4669192"/>
            <a:ext cx="7029450" cy="1569660"/>
          </a:xfrm>
          <a:prstGeom prst="rect"/>
          <a:noFill/>
        </p:spPr>
        <p:txBody>
          <a:bodyPr wrap="square">
            <a:spAutoFit/>
          </a:bodyPr>
          <a:p>
            <a:r>
              <a:rPr b="1" sz="1600" lang="en-I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Confusion Matrix Visualization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b="0" sz="1600" i="0" lang="en-IN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Displays true vs predicted labels.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b="0" sz="1600" i="0" lang="en-IN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Helps </a:t>
            </a:r>
            <a:r>
              <a:rPr b="0" sz="1600" i="0" lang="en-IN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</a:t>
            </a:r>
            <a:r>
              <a:rPr b="0" sz="1600" i="0" lang="en-IN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l" indent="-285750" lvl="1" marL="742950">
              <a:buFont typeface="Arial" panose="020B0604020202020204" pitchFamily="34" charset="0"/>
              <a:buChar char="•"/>
            </a:pPr>
            <a:r>
              <a:rPr b="0" sz="1600" i="0" lang="en-IN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False positives</a:t>
            </a:r>
          </a:p>
          <a:p>
            <a:pPr algn="l" indent="-285750" lvl="1" marL="742950">
              <a:buFont typeface="Arial" panose="020B0604020202020204" pitchFamily="34" charset="0"/>
              <a:buChar char="•"/>
            </a:pPr>
            <a:r>
              <a:rPr b="0" sz="1600" i="0" lang="en-IN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False negatives</a:t>
            </a:r>
          </a:p>
          <a:p>
            <a:pPr algn="l" indent="-285750" lvl="1" marL="742950">
              <a:buFont typeface="Arial" panose="020B0604020202020204" pitchFamily="34" charset="0"/>
              <a:buChar char="•"/>
            </a:pPr>
            <a:r>
              <a:rPr b="0" sz="1600" i="0" lang="en-IN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Class-wise performance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Advantages</a:t>
            </a:r>
            <a:endParaRPr lang="en-IN"/>
          </a:p>
        </p:txBody>
      </p:sp>
      <p:sp>
        <p:nvSpPr>
          <p:cNvPr id="1048651" name="Text Placeholder 2"/>
          <p:cNvSpPr>
            <a:spLocks noGrp="1"/>
          </p:cNvSpPr>
          <p:nvPr>
            <p:ph type="body" idx="1"/>
          </p:nvPr>
        </p:nvSpPr>
        <p:spPr>
          <a:xfrm>
            <a:off x="430943" y="1690692"/>
            <a:ext cx="8515350" cy="4351338"/>
          </a:xfrm>
        </p:spPr>
        <p:txBody>
          <a:bodyPr>
            <a:normAutofit/>
          </a:bodyPr>
          <a:p>
            <a:r>
              <a:rPr b="1"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Accuracy with Minimal Data:</a:t>
            </a:r>
            <a: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Achieves 97.95% accuracy using transfer learning from Kinetics-400 pretrained weights, trained on only ~293 balanced samples</a:t>
            </a:r>
          </a:p>
          <a:p>
            <a:r>
              <a:rPr b="1"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Reduced False Alarms: </a:t>
            </a:r>
            <a: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a confidence-based temporal voting system (5 frames, 85% threshold) to filter out momentary errors, making predictions more stable and reliable than single-frame methods.</a:t>
            </a:r>
          </a:p>
          <a:p>
            <a:r>
              <a:rPr b="1"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Prototype web interface for simplified testing</a:t>
            </a:r>
            <a: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Built with a browser-based interface, enabling users to run detection without any coding or technical setup.</a:t>
            </a:r>
          </a:p>
          <a:p>
            <a:r>
              <a:rPr b="1"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Lightweight and Portable: </a:t>
            </a:r>
            <a: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Requires only a single model file (.pth) and standard libraries. Runs consistently across Windows, Linux, and macOS with no hardware dependency.</a:t>
            </a:r>
            <a:endParaRPr sz="1800"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TextBox 2"/>
          <p:cNvSpPr txBox="1"/>
          <p:nvPr/>
        </p:nvSpPr>
        <p:spPr>
          <a:xfrm>
            <a:off x="1370621" y="326040"/>
            <a:ext cx="5412154" cy="769441"/>
          </a:xfrm>
          <a:prstGeom prst="rect"/>
          <a:noFill/>
        </p:spPr>
        <p:txBody>
          <a:bodyPr wrap="square">
            <a:spAutoFit/>
          </a:bodyPr>
          <a:p>
            <a:pPr algn="ctr"/>
            <a:r>
              <a:rPr sz="4400" lang="en-IN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048653" name="Rectangle 1"/>
          <p:cNvSpPr>
            <a:spLocks noChangeArrowheads="1"/>
          </p:cNvSpPr>
          <p:nvPr/>
        </p:nvSpPr>
        <p:spPr bwMode="auto">
          <a:xfrm>
            <a:off x="393610" y="1443841"/>
            <a:ext cx="7967246" cy="3970318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A real-time human violence detection framework based on </a:t>
            </a:r>
            <a:r>
              <a:rPr altLang="en-US" baseline="0" b="1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ResNet3D-18</a:t>
            </a: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was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developed for </a:t>
            </a:r>
            <a:r>
              <a:rPr altLang="en-US" baseline="0" b="0" cap="none" sz="1800" i="0" kumimoji="0" lang="en-US" normalizeH="0" err="1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spatio</a:t>
            </a: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-temporal video analysis.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altLang="en-US" baseline="0" b="0" cap="none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The model effectively captures motion and appearance features from 16-frame 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altLang="en-US" sz="1800" lang="en-US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 clips.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altLang="en-US" baseline="0" b="0" cap="none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The proposed </a:t>
            </a:r>
            <a:r>
              <a:rPr altLang="en-US" baseline="0" b="1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confidence-gated temporal voting mechanism</a:t>
            </a: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significantly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altLang="en-US" sz="1800" lang="en-US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reduces false positives and improves detection stability.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altLang="en-US" baseline="0" b="0" cap="none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The system achieved </a:t>
            </a:r>
            <a:r>
              <a:rPr altLang="en-US" baseline="0" b="1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97.95% accuracy</a:t>
            </a: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strong precision and 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altLang="en-US" sz="1800" lang="en-US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 performance.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altLang="en-US" baseline="0" b="0" cap="none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 lvl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altLang="en-US" baseline="0" b="0" cap="none" sz="18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Real-time deployment with CPU and GPU </a:t>
            </a:r>
            <a: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demonstrates potential for</a:t>
            </a:r>
          </a:p>
          <a:p>
            <a:pPr eaLnBrk="0" fontAlgn="base" hangingPunct="0" lvl="0">
              <a:spcBef>
                <a:spcPct val="0"/>
              </a:spcBef>
              <a:spcAft>
                <a:spcPct val="0"/>
              </a:spcAft>
              <a:buClrTx/>
            </a:pPr>
            <a:r>
              <a:rPr sz="1800"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practical deployment</a:t>
            </a:r>
            <a:endParaRPr altLang="en-US" baseline="0" b="0" cap="none" sz="1800" i="0" kumimoji="0" lang="en-US" normalizeH="0" strike="noStrike" u="none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Future Scope:</a:t>
            </a:r>
            <a:endParaRPr lang="en-IN"/>
          </a:p>
        </p:txBody>
      </p:sp>
      <p:sp>
        <p:nvSpPr>
          <p:cNvPr id="1048655" name="Text Placeholder 2"/>
          <p:cNvSpPr>
            <a:spLocks noGrp="1"/>
          </p:cNvSpPr>
          <p:nvPr>
            <p:ph type="body" idx="1"/>
          </p:nvPr>
        </p:nvSpPr>
        <p:spPr>
          <a:xfrm>
            <a:off x="542153" y="1690692"/>
            <a:ext cx="8369877" cy="3117077"/>
          </a:xfrm>
        </p:spPr>
        <p:txBody>
          <a:bodyPr>
            <a:normAutofit/>
          </a:bodyPr>
          <a:p>
            <a:r>
              <a:rPr b="1" sz="1800" lang="en-US"/>
              <a:t>Multimodal Fusion — Audio + Video:</a:t>
            </a:r>
            <a:r>
              <a:rPr sz="1800" lang="en-US"/>
              <a:t> Integrate audio analysis (screams, impact sounds, breaking glass) alongside video using a gated fusion module</a:t>
            </a:r>
          </a:p>
          <a:p>
            <a:r>
              <a:rPr b="1" sz="1800" lang="en-US"/>
              <a:t>Multi-Camera Centralized Dashboard:</a:t>
            </a:r>
            <a:r>
              <a:rPr sz="1800" lang="en-US"/>
              <a:t> Build a unified monitoring dashboard aggregating real-time alerts from multiple camera feeds simultaneously</a:t>
            </a:r>
          </a:p>
          <a:p>
            <a:r>
              <a:rPr b="1" sz="1800" lang="en-US"/>
              <a:t>Auto Sending Alerts:</a:t>
            </a:r>
            <a:r>
              <a:rPr sz="1800" lang="en-US"/>
              <a:t> When violence is detected, the system should automatically send an SMS or email to security staff or police </a:t>
            </a:r>
          </a:p>
          <a:p>
            <a:r>
              <a:rPr b="1" sz="1800" lang="en-US"/>
              <a:t>Making It Smarter Over Time:</a:t>
            </a:r>
            <a:r>
              <a:rPr sz="1800" lang="en-US"/>
              <a:t> The model can be retrained regularly with new video data from the actual deployment location — making it more accurate </a:t>
            </a:r>
            <a:endParaRPr sz="1800"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Google Shape;157;p23"/>
          <p:cNvSpPr txBox="1">
            <a:spLocks noGrp="1"/>
          </p:cNvSpPr>
          <p:nvPr>
            <p:ph type="title"/>
          </p:nvPr>
        </p:nvSpPr>
        <p:spPr>
          <a:xfrm>
            <a:off x="2055055" y="405350"/>
            <a:ext cx="4763434" cy="929857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p>
            <a:pPr algn="ctr" indent="0" lvl="0" mar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GB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References</a:t>
            </a:r>
            <a:r>
              <a:rPr lang="en-GB">
                <a:solidFill>
                  <a:schemeClr val="accent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>
              <a:solidFill>
                <a:schemeClr val="accent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48657" name="Google Shape;158;p23"/>
          <p:cNvSpPr txBox="1">
            <a:spLocks noGrp="1"/>
          </p:cNvSpPr>
          <p:nvPr>
            <p:ph type="body" idx="1"/>
          </p:nvPr>
        </p:nvSpPr>
        <p:spPr>
          <a:xfrm>
            <a:off x="628649" y="1253400"/>
            <a:ext cx="8022981" cy="5062994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just" indent="-457200" marL="457200"/>
            <a:r>
              <a:rPr sz="1200"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“Fabrication of Drone.” </a:t>
            </a:r>
            <a:r>
              <a:rPr sz="1200" i="1"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SlideShare</a:t>
            </a:r>
            <a:r>
              <a:rPr sz="1200"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30 Apr. 2019, </a:t>
            </a:r>
            <a:r>
              <a:rPr sz="1200" lang="en-IN" u="sng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/>
              </a:rPr>
              <a:t>www.slideshare.net/Rajnishkumar468/fabrication-of-drone. Accessed 31 May 2024</a:t>
            </a:r>
            <a:r>
              <a:rPr sz="1200"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algn="just" indent="0" marL="0">
              <a:buNone/>
            </a:pPr>
            <a:r>
              <a:rPr sz="1200"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algn="just" indent="-457200" marL="457200"/>
            <a:r>
              <a:rPr sz="1200"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Kotecha, Ketan, et al. “Background Invariant Faster Motion </a:t>
            </a:r>
            <a:r>
              <a:rPr sz="1200" lang="en-IN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Modeling</a:t>
            </a:r>
            <a:r>
              <a:rPr sz="1200"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for Drone Action Recognition.” </a:t>
            </a:r>
            <a:r>
              <a:rPr sz="1200" i="1"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Drones</a:t>
            </a:r>
            <a:r>
              <a:rPr sz="1200"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vol. 5, no. 3, 31 Aug. 2021, p. 87, </a:t>
            </a:r>
            <a:r>
              <a:rPr sz="1200" lang="en-IN" u="sng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https://doi.org/10.3390/drones5030087</a:t>
            </a:r>
            <a:r>
              <a:rPr sz="1200"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algn="just" indent="0" marL="0">
              <a:buNone/>
            </a:pPr>
            <a:r>
              <a:rPr sz="1200"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algn="just" indent="-457200" marL="457200"/>
            <a:r>
              <a:rPr sz="1200"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Perera, </a:t>
            </a:r>
            <a:r>
              <a:rPr sz="1200" lang="en-IN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Asanka</a:t>
            </a:r>
            <a:r>
              <a:rPr sz="1200"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G., et al. “Drone-Action: An Outdoor Recorded Drone Video Dataset for Action Recognition.” </a:t>
            </a:r>
            <a:r>
              <a:rPr sz="1200" i="1"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Drones</a:t>
            </a:r>
            <a:r>
              <a:rPr sz="1200"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vol. 3, no. 4, 28 Nov. 2019, p. 82, </a:t>
            </a:r>
            <a:r>
              <a:rPr sz="1200" lang="en-IN" u="sng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https://doi.org/10.3390/drones3040082</a:t>
            </a:r>
            <a:r>
              <a:rPr sz="1200"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algn="just" indent="0" marL="0">
              <a:buNone/>
            </a:pPr>
            <a:r>
              <a:rPr sz="1200"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algn="just" indent="-457200" marL="457200"/>
            <a:r>
              <a:rPr sz="1200"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Ramachandran, </a:t>
            </a:r>
            <a:r>
              <a:rPr sz="1200" lang="en-IN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Anitha</a:t>
            </a:r>
            <a:r>
              <a:rPr sz="1200"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and Arun Kumar </a:t>
            </a:r>
            <a:r>
              <a:rPr sz="1200" lang="en-IN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Sangaiah</a:t>
            </a:r>
            <a:r>
              <a:rPr sz="1200"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“A Review on Object Detection in Unmanned Aerial Vehicle Surveillance.” </a:t>
            </a:r>
            <a:r>
              <a:rPr sz="1200" i="1"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International Journal of Cognitive Computing in Engineering</a:t>
            </a:r>
            <a:r>
              <a:rPr sz="1200"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vol. 2, 1 June 2021, pp. 215–228, www.sciencedirect.com/science/article/pii/S2666307421000267#bib0011, </a:t>
            </a:r>
            <a:r>
              <a:rPr sz="1200" lang="en-IN" u="sng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4"/>
              </a:rPr>
              <a:t>https://doi.org/10.1016/j.ijcce.2021.11.005</a:t>
            </a:r>
            <a:r>
              <a:rPr sz="1200"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algn="just" indent="-457200" marL="457200"/>
            <a:endParaRPr sz="1200" lang="en-IN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indent="-457200" marL="457200"/>
            <a:r>
              <a:rPr sz="1200"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Srivastava, </a:t>
            </a:r>
            <a:r>
              <a:rPr sz="1200" lang="en-IN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Anugrah</a:t>
            </a:r>
            <a:r>
              <a:rPr sz="1200"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et al. “Recognizing Human Violent Action Using Drone Surveillance within Real-Time Proximity.” </a:t>
            </a:r>
            <a:r>
              <a:rPr sz="1200" i="1"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Journal of Real-Time Image Processing</a:t>
            </a:r>
            <a:r>
              <a:rPr sz="1200"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vol. 18, no. 5, 12 Sept. 2021, pp. 1851–1863, </a:t>
            </a:r>
            <a:r>
              <a:rPr sz="1200" lang="en-IN" u="sng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5"/>
              </a:rPr>
              <a:t>https://doi.org/10.1007/s11554-021-01171-2</a:t>
            </a:r>
            <a:r>
              <a:rPr sz="1200"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algn="just" indent="-457200" marL="457200"/>
            <a:r>
              <a:rPr sz="1200"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Accessed 1 Feb. 2022.</a:t>
            </a:r>
          </a:p>
          <a:p>
            <a:pPr algn="just" indent="-457200" marL="457200"/>
            <a:r>
              <a:rPr sz="1200" lang="en-IN" u="sng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6"/>
              </a:rPr>
              <a:t>https://ieeexplore.ieee.org/abstract/document/10459026</a:t>
            </a:r>
            <a:endParaRPr sz="1200" lang="en-IN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indent="-457200" marL="457200"/>
            <a:r>
              <a:rPr sz="1200" lang="en-IN" u="sng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7"/>
              </a:rPr>
              <a:t>https://ieeexplore.ieee.org/abstract/document/9006834</a:t>
            </a:r>
            <a:endParaRPr sz="1200" lang="en-IN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indent="-457200" marL="457200">
              <a:lnSpc>
                <a:spcPct val="120000"/>
              </a:lnSpc>
            </a:pPr>
            <a:r>
              <a:rPr sz="1200"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Singh, Pawan Kumar, et al. “Progress of Human Action Recognition Research in the Last Ten Years: A Comprehensive Survey.” </a:t>
            </a:r>
            <a:r>
              <a:rPr sz="1200" i="1"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Archives of Computational Methods in Engineering</a:t>
            </a:r>
            <a:r>
              <a:rPr sz="1200"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30 Nov. 2021, </a:t>
            </a:r>
            <a:r>
              <a:rPr sz="1200" lang="en-IN" u="sng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8"/>
              </a:rPr>
              <a:t>https://doi.org/10.1007/s11831-021-09681-9</a:t>
            </a:r>
            <a:r>
              <a:rPr sz="1200" lang="en-IN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algn="ctr" indent="0" lvl="0" mar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1200" lang="en-US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73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7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/>
          <a:effectLst>
            <a:glow rad="127000">
              <a:schemeClr val="bg2">
                <a:alpha val="0"/>
              </a:schemeClr>
            </a:glow>
            <a:outerShdw algn="ctr" blurRad="50800" dir="5400000" dist="50800" rotWithShape="0" sx="200000" sy="200000">
              <a:srgbClr val="000000">
                <a:alpha val="0"/>
              </a:srgbClr>
            </a:outerShdw>
            <a:reflection algn="bl" dir="5400000" dist="50800" endPos="65000" rotWithShape="0" stA="0" sy="-100000"/>
          </a:effectLst>
        </p:spPr>
      </p:pic>
      <p:sp>
        <p:nvSpPr>
          <p:cNvPr id="1048660" name="Google Shape;163;p24"/>
          <p:cNvSpPr txBox="1"/>
          <p:nvPr/>
        </p:nvSpPr>
        <p:spPr>
          <a:xfrm>
            <a:off x="599246" y="724832"/>
            <a:ext cx="7772400" cy="1165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ctr" indent="0" lvl="0" marL="0" marR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5200" lang="en-GB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Thank You</a:t>
            </a:r>
            <a:endParaRPr b="1"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dell 1</dc:creator>
  <cp:lastModifiedBy>tanisha vernekar</cp:lastModifiedBy>
  <dcterms:created xsi:type="dcterms:W3CDTF">2024-06-03T18:47:00Z</dcterms:created>
  <dcterms:modified xsi:type="dcterms:W3CDTF">2026-04-09T02:47:52Z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4d0b8618eb464617acac8f89b76609ed</vt:lpwstr>
  </property>
  <property fmtid="{D5CDD505-2E9C-101B-9397-08002B2CF9AE}" pid="3" name="KSOProductBuildVer">
    <vt:lpwstr>1033-12.2.0.18283</vt:lpwstr>
  </property>
</Properties>
</file>